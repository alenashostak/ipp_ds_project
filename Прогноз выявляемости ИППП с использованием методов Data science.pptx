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D693F-D068-659E-E81F-7C32EDD89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Прогноз выявляемости ИППП с использованием методов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Data science</a:t>
            </a: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CF3659-37EB-7078-5900-F3E7180FC4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r>
              <a:rPr lang="ru-RU" dirty="0"/>
              <a:t>      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81444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47EB9-0D6E-F7C4-3A01-625D76491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Проблема и 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4608B6-B7B8-2E77-8D1F-6AC495B8F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ru-RU" sz="3200" dirty="0">
                <a:solidFill>
                  <a:schemeClr val="bg1"/>
                </a:solidFill>
              </a:rPr>
              <a:t>В проекте используются отчетные медицинские данные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>
                <a:solidFill>
                  <a:schemeClr val="bg1"/>
                </a:solidFill>
              </a:rPr>
              <a:t>Анализ проводится вручную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>
                <a:solidFill>
                  <a:schemeClr val="bg1"/>
                </a:solidFill>
              </a:rPr>
              <a:t>Нет прогноза на будущие периоды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>
                <a:solidFill>
                  <a:schemeClr val="bg1"/>
                </a:solidFill>
              </a:rPr>
              <a:t>Цель – автоматизировать анализ и прогноз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710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DDAA9-F8B8-9B76-A51D-CCA00B7D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Описание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51F090-3395-7C7F-F52F-6A4F1DD10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18488"/>
            <a:ext cx="9905999" cy="417271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Данные по выявляемости ИППП за 2022-2025 годы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Содержат информацию о количестве обследованных (мужчин и женщин) по месяцам по каждой инфекции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Источник данных - профессиональные данные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Данные обезличены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DA79EE23-86CC-F076-E0C5-72610685C5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511557"/>
              </p:ext>
            </p:extLst>
          </p:nvPr>
        </p:nvGraphicFramePr>
        <p:xfrm>
          <a:off x="2292032" y="4315968"/>
          <a:ext cx="6501384" cy="2029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64059" imgH="1111385" progId="Excel.Sheet.12">
                  <p:embed/>
                </p:oleObj>
              </mc:Choice>
              <mc:Fallback>
                <p:oleObj name="Worksheet" r:id="rId2" imgW="3664059" imgH="11113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92032" y="4315968"/>
                        <a:ext cx="6501384" cy="20299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670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69891F-59C7-BB75-AA4D-D323AB16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4008"/>
            <a:ext cx="9905998" cy="832104"/>
          </a:xfrm>
        </p:spPr>
        <p:txBody>
          <a:bodyPr>
            <a:normAutofit fontScale="90000"/>
          </a:bodyPr>
          <a:lstStyle/>
          <a:p>
            <a:pPr algn="ctr"/>
            <a:br>
              <a:rPr lang="ru-RU" sz="4800" dirty="0"/>
            </a:br>
            <a:r>
              <a:rPr lang="en-US" sz="4800" dirty="0">
                <a:solidFill>
                  <a:schemeClr val="bg1"/>
                </a:solidFill>
              </a:rPr>
              <a:t>EDA: </a:t>
            </a:r>
            <a:r>
              <a:rPr lang="ru-RU" dirty="0">
                <a:solidFill>
                  <a:schemeClr val="bg1"/>
                </a:solidFill>
              </a:rPr>
              <a:t>сезонная выявляемость</a:t>
            </a:r>
            <a:br>
              <a:rPr lang="ru-RU" dirty="0"/>
            </a:b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8A8253D-1CA3-7246-2E30-AB31E261E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2728" y="1143000"/>
            <a:ext cx="9994392" cy="5212080"/>
          </a:xfrm>
        </p:spPr>
      </p:pic>
    </p:spTree>
    <p:extLst>
      <p:ext uri="{BB962C8B-B14F-4D97-AF65-F5344CB8AC3E}">
        <p14:creationId xmlns:p14="http://schemas.microsoft.com/office/powerpoint/2010/main" val="3025681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86642-536D-9658-F58F-56FAF23A8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Eda: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различия по полу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0121B34-F7D2-22CF-1EDD-25D9E82FD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1952" y="1901952"/>
            <a:ext cx="8010144" cy="4672584"/>
          </a:xfrm>
        </p:spPr>
      </p:pic>
    </p:spTree>
    <p:extLst>
      <p:ext uri="{BB962C8B-B14F-4D97-AF65-F5344CB8AC3E}">
        <p14:creationId xmlns:p14="http://schemas.microsoft.com/office/powerpoint/2010/main" val="2624705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CF7F7-9E24-ABD0-D24B-1A09CD4E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Eda:</a:t>
            </a:r>
            <a:r>
              <a:rPr lang="ru-RU" dirty="0">
                <a:solidFill>
                  <a:schemeClr val="bg1"/>
                </a:solidFill>
              </a:rPr>
              <a:t>различия по инфекциям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AA5CD19-9D62-6ACB-2834-47A339611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592" y="1969072"/>
            <a:ext cx="7077456" cy="4142394"/>
          </a:xfrm>
        </p:spPr>
      </p:pic>
    </p:spTree>
    <p:extLst>
      <p:ext uri="{BB962C8B-B14F-4D97-AF65-F5344CB8AC3E}">
        <p14:creationId xmlns:p14="http://schemas.microsoft.com/office/powerpoint/2010/main" val="1359730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32E9B-E133-3AE3-C0DD-AC253D26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постановка задачи </a:t>
            </a:r>
            <a:r>
              <a:rPr lang="en-US" dirty="0">
                <a:solidFill>
                  <a:schemeClr val="bg1"/>
                </a:solidFill>
              </a:rPr>
              <a:t>Ds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7D0D89-B16E-E022-23C4-855EED1B0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Тип задачи: регрессия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</a:rPr>
              <a:t>Target:</a:t>
            </a:r>
            <a:r>
              <a:rPr lang="ru-RU" sz="3200" dirty="0">
                <a:solidFill>
                  <a:schemeClr val="bg1"/>
                </a:solidFill>
              </a:rPr>
              <a:t> количество выявленных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Признаки: год, месяц, пол, инфекция, количество обследованных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Метрики: </a:t>
            </a:r>
            <a:r>
              <a:rPr lang="en-US" sz="3200" dirty="0">
                <a:solidFill>
                  <a:schemeClr val="bg1"/>
                </a:solidFill>
              </a:rPr>
              <a:t>MAE, RMSE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919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3F3EA7-DF22-C7CC-4240-281807BE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Примененные модели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56F87AD-E171-CFFF-077A-67D71B4E44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1935374"/>
              </p:ext>
            </p:extLst>
          </p:nvPr>
        </p:nvGraphicFramePr>
        <p:xfrm>
          <a:off x="1141413" y="2249488"/>
          <a:ext cx="9906000" cy="3456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1165702838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912803319"/>
                    </a:ext>
                  </a:extLst>
                </a:gridCol>
              </a:tblGrid>
              <a:tr h="1728184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Linear Regression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ru-RU" sz="2800" dirty="0"/>
                        <a:t>Базовая модель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967065"/>
                  </a:ext>
                </a:extLst>
              </a:tr>
              <a:tr h="1728184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Random Forest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  <a:p>
                      <a:pPr algn="ctr"/>
                      <a:endParaRPr lang="ru-RU" sz="2800" dirty="0"/>
                    </a:p>
                    <a:p>
                      <a:pPr algn="ctr"/>
                      <a:r>
                        <a:rPr lang="ru-RU" sz="2800" dirty="0"/>
                        <a:t>Нелинейная модель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715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95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CF424-811A-33F2-8E62-432302A23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Результаты моделей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67510FA-4494-3C40-FD63-593A311CE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940124"/>
              </p:ext>
            </p:extLst>
          </p:nvPr>
        </p:nvGraphicFramePr>
        <p:xfrm>
          <a:off x="1141413" y="2249488"/>
          <a:ext cx="9906000" cy="3044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155538095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817670005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15147597"/>
                    </a:ext>
                  </a:extLst>
                </a:gridCol>
              </a:tblGrid>
              <a:tr h="1014963">
                <a:tc>
                  <a:txBody>
                    <a:bodyPr/>
                    <a:lstStyle/>
                    <a:p>
                      <a:r>
                        <a:rPr lang="ru-RU" dirty="0"/>
                        <a:t>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430835"/>
                  </a:ext>
                </a:extLst>
              </a:tr>
              <a:tr h="1014963"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1,64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2,28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935334"/>
                  </a:ext>
                </a:extLst>
              </a:tr>
              <a:tr h="1014963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1,62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2,50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377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175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A021C6-9B4A-B7E3-3529-5E065D7DE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Относительная важность признаков в модели </a:t>
            </a:r>
            <a:r>
              <a:rPr lang="en-US" dirty="0">
                <a:solidFill>
                  <a:schemeClr val="bg1"/>
                </a:solidFill>
              </a:rPr>
              <a:t>random forest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79E2F5C-2431-691E-4574-D6DA40A86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5064" y="2249488"/>
            <a:ext cx="8622792" cy="4105592"/>
          </a:xfrm>
        </p:spPr>
      </p:pic>
    </p:spTree>
    <p:extLst>
      <p:ext uri="{BB962C8B-B14F-4D97-AF65-F5344CB8AC3E}">
        <p14:creationId xmlns:p14="http://schemas.microsoft.com/office/powerpoint/2010/main" val="101586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E67C9-F2B4-C02B-86FC-FD7E53E0B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6BE625-A770-AF92-B3AE-FDF29B138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36776"/>
            <a:ext cx="9905999" cy="47457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Модели показали приемлемую точность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Анализ важности признаков в модели </a:t>
            </a:r>
            <a:r>
              <a:rPr lang="ru-RU" dirty="0" err="1">
                <a:solidFill>
                  <a:schemeClr val="bg1"/>
                </a:solidFill>
              </a:rPr>
              <a:t>Random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Forest</a:t>
            </a:r>
            <a:r>
              <a:rPr lang="ru-RU" dirty="0">
                <a:solidFill>
                  <a:schemeClr val="bg1"/>
                </a:solidFill>
              </a:rPr>
              <a:t> показал, что:</a:t>
            </a:r>
          </a:p>
          <a:p>
            <a:pPr>
              <a:buFontTx/>
              <a:buChar char="-"/>
            </a:pPr>
            <a:r>
              <a:rPr lang="ru-RU" dirty="0">
                <a:solidFill>
                  <a:schemeClr val="bg1"/>
                </a:solidFill>
              </a:rPr>
              <a:t>временные признаки (месяц) играют значимую роль, подтверждая сезонность;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- тип инфекции является одним из ключевых факторов;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- количество обследованных пациентов напрямую влияет на число выявленных случаев.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Полученные результаты согласуются с выводами, сделанными на этапе исследовательского анализа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4273197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A22C01-FB7C-8DE5-6482-ED87EECC0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Практическая ценность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CDF169-E4A9-D92E-392F-EDF31726A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Разработанная модель может быть использована для: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прогнозирования ожидаемой выявляемости ИППП на будущие периоды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планирования нагрузки на медицинский персонал  лаборатории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оптимизации закупок диагностических тест-систем и расходных материалов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24957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{322AD0AA-779B-4789-8463-D642648567F7}TF6d5feb1e-e145-43f1-b745-cb4b54c5ee9733a8a5b4-7ba003f5bf80</Template>
  <TotalTime>116</TotalTime>
  <Words>228</Words>
  <Application>Microsoft Office PowerPoint</Application>
  <PresentationFormat>Широкоэкранный</PresentationFormat>
  <Paragraphs>58</Paragraphs>
  <Slides>12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Tw Cen MT</vt:lpstr>
      <vt:lpstr>Wingdings</vt:lpstr>
      <vt:lpstr>Контур</vt:lpstr>
      <vt:lpstr>Worksheet</vt:lpstr>
      <vt:lpstr>Прогноз выявляемости ИППП с использованием методов Data science</vt:lpstr>
      <vt:lpstr>Проблема и цель проекта</vt:lpstr>
      <vt:lpstr>Описание данных</vt:lpstr>
      <vt:lpstr> EDA: сезонная выявляемость </vt:lpstr>
      <vt:lpstr>Eda: различия по полу</vt:lpstr>
      <vt:lpstr>Eda:различия по инфекциям</vt:lpstr>
      <vt:lpstr>постановка задачи Ds</vt:lpstr>
      <vt:lpstr>Примененные модели</vt:lpstr>
      <vt:lpstr>Результаты моделей</vt:lpstr>
      <vt:lpstr>Относительная важность признаков в модели random forest</vt:lpstr>
      <vt:lpstr>выводы</vt:lpstr>
      <vt:lpstr>Практическая ценность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HONOR</dc:creator>
  <cp:lastModifiedBy>HONOR</cp:lastModifiedBy>
  <cp:revision>3</cp:revision>
  <dcterms:created xsi:type="dcterms:W3CDTF">2026-02-03T19:42:53Z</dcterms:created>
  <dcterms:modified xsi:type="dcterms:W3CDTF">2026-02-05T19:27:09Z</dcterms:modified>
</cp:coreProperties>
</file>